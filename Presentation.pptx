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3" r:id="rId2"/>
    <p:sldId id="265" r:id="rId3"/>
    <p:sldId id="274" r:id="rId4"/>
    <p:sldId id="270" r:id="rId5"/>
    <p:sldId id="260" r:id="rId6"/>
    <p:sldId id="259" r:id="rId7"/>
    <p:sldId id="261" r:id="rId8"/>
    <p:sldId id="267" r:id="rId9"/>
    <p:sldId id="264" r:id="rId10"/>
    <p:sldId id="268" r:id="rId11"/>
    <p:sldId id="275" r:id="rId12"/>
    <p:sldId id="266" r:id="rId13"/>
    <p:sldId id="278" r:id="rId14"/>
    <p:sldId id="279" r:id="rId15"/>
    <p:sldId id="276" r:id="rId16"/>
    <p:sldId id="277" r:id="rId17"/>
    <p:sldId id="269" r:id="rId18"/>
    <p:sldId id="258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05C74-D1D0-414F-8E9E-1AAFB1342CE1}" v="10" dt="2025-11-24T19:26:23.801"/>
    <p1510:client id="{BD0CE744-6302-4674-A364-2C47ED8BA4E1}" v="10" dt="2025-11-24T19:53:32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6341"/>
  </p:normalViewPr>
  <p:slideViewPr>
    <p:cSldViewPr snapToGrid="0" snapToObjects="1">
      <p:cViewPr varScale="1">
        <p:scale>
          <a:sx n="73" d="100"/>
          <a:sy n="73" d="100"/>
        </p:scale>
        <p:origin x="6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jal Agrawal" userId="4812f0495d5d42f5" providerId="LiveId" clId="{0FFF6805-291B-407B-AE85-FEBC6B307DAA}"/>
    <pc:docChg chg="custSel modSld">
      <pc:chgData name="Pranjal Agrawal" userId="4812f0495d5d42f5" providerId="LiveId" clId="{0FFF6805-291B-407B-AE85-FEBC6B307DAA}" dt="2025-11-24T19:54:20.186" v="66" actId="1076"/>
      <pc:docMkLst>
        <pc:docMk/>
      </pc:docMkLst>
      <pc:sldChg chg="addSp delSp modSp mod">
        <pc:chgData name="Pranjal Agrawal" userId="4812f0495d5d42f5" providerId="LiveId" clId="{0FFF6805-291B-407B-AE85-FEBC6B307DAA}" dt="2025-11-24T19:54:20.186" v="66" actId="1076"/>
        <pc:sldMkLst>
          <pc:docMk/>
          <pc:sldMk cId="1334503723" sldId="278"/>
        </pc:sldMkLst>
        <pc:spChg chg="add del mod">
          <ac:chgData name="Pranjal Agrawal" userId="4812f0495d5d42f5" providerId="LiveId" clId="{0FFF6805-291B-407B-AE85-FEBC6B307DAA}" dt="2025-11-24T19:53:30.418" v="13"/>
          <ac:spMkLst>
            <pc:docMk/>
            <pc:sldMk cId="1334503723" sldId="278"/>
            <ac:spMk id="5" creationId="{49D599C1-F814-DF10-12F3-134322CF4721}"/>
          </ac:spMkLst>
        </pc:spChg>
        <pc:spChg chg="add del mod">
          <ac:chgData name="Pranjal Agrawal" userId="4812f0495d5d42f5" providerId="LiveId" clId="{0FFF6805-291B-407B-AE85-FEBC6B307DAA}" dt="2025-11-24T19:53:30.418" v="15"/>
          <ac:spMkLst>
            <pc:docMk/>
            <pc:sldMk cId="1334503723" sldId="278"/>
            <ac:spMk id="6" creationId="{B4498840-AC18-D41E-34C8-F6608C4C0E9B}"/>
          </ac:spMkLst>
        </pc:spChg>
        <pc:spChg chg="add del mod">
          <ac:chgData name="Pranjal Agrawal" userId="4812f0495d5d42f5" providerId="LiveId" clId="{0FFF6805-291B-407B-AE85-FEBC6B307DAA}" dt="2025-11-24T19:53:30.418" v="17"/>
          <ac:spMkLst>
            <pc:docMk/>
            <pc:sldMk cId="1334503723" sldId="278"/>
            <ac:spMk id="7" creationId="{95E8B795-F209-01CE-C2FA-37E33B24B8E3}"/>
          </ac:spMkLst>
        </pc:spChg>
        <pc:spChg chg="add del mod">
          <ac:chgData name="Pranjal Agrawal" userId="4812f0495d5d42f5" providerId="LiveId" clId="{0FFF6805-291B-407B-AE85-FEBC6B307DAA}" dt="2025-11-24T19:53:30.418" v="19"/>
          <ac:spMkLst>
            <pc:docMk/>
            <pc:sldMk cId="1334503723" sldId="278"/>
            <ac:spMk id="8" creationId="{8D5E94E9-31C5-F56A-5522-7E2AF549B262}"/>
          </ac:spMkLst>
        </pc:spChg>
        <pc:spChg chg="add del mod">
          <ac:chgData name="Pranjal Agrawal" userId="4812f0495d5d42f5" providerId="LiveId" clId="{0FFF6805-291B-407B-AE85-FEBC6B307DAA}" dt="2025-11-24T19:53:30.418" v="21"/>
          <ac:spMkLst>
            <pc:docMk/>
            <pc:sldMk cId="1334503723" sldId="278"/>
            <ac:spMk id="9" creationId="{0A609DD5-5C8B-36AA-AA45-3425CD06D25C}"/>
          </ac:spMkLst>
        </pc:spChg>
        <pc:spChg chg="add del mod">
          <ac:chgData name="Pranjal Agrawal" userId="4812f0495d5d42f5" providerId="LiveId" clId="{0FFF6805-291B-407B-AE85-FEBC6B307DAA}" dt="2025-11-24T19:53:30.418" v="23"/>
          <ac:spMkLst>
            <pc:docMk/>
            <pc:sldMk cId="1334503723" sldId="278"/>
            <ac:spMk id="10" creationId="{B261C9BE-F20D-444C-E116-DD9867698496}"/>
          </ac:spMkLst>
        </pc:spChg>
        <pc:spChg chg="add del mod">
          <ac:chgData name="Pranjal Agrawal" userId="4812f0495d5d42f5" providerId="LiveId" clId="{0FFF6805-291B-407B-AE85-FEBC6B307DAA}" dt="2025-11-24T19:53:30.418" v="25"/>
          <ac:spMkLst>
            <pc:docMk/>
            <pc:sldMk cId="1334503723" sldId="278"/>
            <ac:spMk id="11" creationId="{AA6F75C9-D354-950F-D351-007530838434}"/>
          </ac:spMkLst>
        </pc:spChg>
        <pc:spChg chg="add del mod">
          <ac:chgData name="Pranjal Agrawal" userId="4812f0495d5d42f5" providerId="LiveId" clId="{0FFF6805-291B-407B-AE85-FEBC6B307DAA}" dt="2025-11-24T19:53:30.418" v="27"/>
          <ac:spMkLst>
            <pc:docMk/>
            <pc:sldMk cId="1334503723" sldId="278"/>
            <ac:spMk id="12" creationId="{50307930-4F24-9E0D-788D-8F98084DAF7B}"/>
          </ac:spMkLst>
        </pc:spChg>
        <pc:spChg chg="add del mod">
          <ac:chgData name="Pranjal Agrawal" userId="4812f0495d5d42f5" providerId="LiveId" clId="{0FFF6805-291B-407B-AE85-FEBC6B307DAA}" dt="2025-11-24T19:53:30.418" v="29"/>
          <ac:spMkLst>
            <pc:docMk/>
            <pc:sldMk cId="1334503723" sldId="278"/>
            <ac:spMk id="13" creationId="{C0588DB9-0A80-C11E-7341-A665470B1748}"/>
          </ac:spMkLst>
        </pc:spChg>
        <pc:spChg chg="add del mod">
          <ac:chgData name="Pranjal Agrawal" userId="4812f0495d5d42f5" providerId="LiveId" clId="{0FFF6805-291B-407B-AE85-FEBC6B307DAA}" dt="2025-11-24T19:54:11.840" v="64" actId="478"/>
          <ac:spMkLst>
            <pc:docMk/>
            <pc:sldMk cId="1334503723" sldId="278"/>
            <ac:spMk id="14" creationId="{B0AC296D-2FE7-3844-B077-12F9E7089C42}"/>
          </ac:spMkLst>
        </pc:spChg>
        <pc:picChg chg="add mod">
          <ac:chgData name="Pranjal Agrawal" userId="4812f0495d5d42f5" providerId="LiveId" clId="{0FFF6805-291B-407B-AE85-FEBC6B307DAA}" dt="2025-11-24T19:54:20.186" v="66" actId="1076"/>
          <ac:picMkLst>
            <pc:docMk/>
            <pc:sldMk cId="1334503723" sldId="278"/>
            <ac:picMk id="3" creationId="{ACC6DE7A-00C1-0CD0-1F62-DFD90F9926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7A975C-EE48-757A-6891-B42B7D9682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FB1C7-41B3-E1B3-0321-488AAA863A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B7406CE-A0A2-4CEC-87AE-54025ED859C9}" type="datetimeFigureOut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AE0C843-2474-D9E5-8F66-CB7BD59205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2860AA-DC4E-9344-53DF-B2B908A77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DF28C-1FE7-5CA8-4869-2ED794CC49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63536-5F5C-7DAD-D901-57D18E26D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7920C2C-2A2B-4E08-8607-2D82555801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3297C5C8-88B2-2358-33CF-29B24D99C528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3509963"/>
          </a:xfrm>
          <a:prstGeom prst="rect">
            <a:avLst/>
          </a:prstGeom>
          <a:solidFill>
            <a:srgbClr val="0C2577"/>
          </a:solidFill>
        </p:spPr>
        <p:txBody>
          <a:bodyPr lIns="0" tIns="0" rIns="0" bIns="0">
            <a:normAutofit/>
          </a:bodyPr>
          <a:lstStyle>
            <a:lvl1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None/>
              <a:defRPr sz="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71318" indent="-135659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Char char="-"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35659" indent="-135659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6pPr>
            <a:lvl7pPr marL="271318" indent="-135659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chemeClr val="bg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685434" rtl="0" eaLnBrk="1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None/>
              <a:defRPr sz="1600" b="1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Clr>
                <a:srgbClr val="0C2577"/>
              </a:buClr>
              <a:defRPr/>
            </a:pPr>
            <a:r>
              <a:rPr lang="en-US">
                <a:solidFill>
                  <a:srgbClr val="0C2577"/>
                </a:solidFill>
                <a:latin typeface="Georgia"/>
              </a:rPr>
              <a:t>..</a:t>
            </a:r>
            <a:endParaRPr lang="en-US" dirty="0">
              <a:solidFill>
                <a:srgbClr val="0C2577"/>
              </a:solidFill>
              <a:latin typeface="Georgia"/>
            </a:endParaRP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DCEA73FF-D03D-CE20-825D-1B3813A31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4852988"/>
            <a:ext cx="12446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6DC40F1C-71A1-BE7B-79DF-FEF9ECCCB5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19250" y="5013325"/>
            <a:ext cx="5559425" cy="9239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IN" altLang="en-US" b="1">
                <a:solidFill>
                  <a:srgbClr val="23298A"/>
                </a:solidFill>
                <a:latin typeface="Georgia" panose="02040502050405020303" pitchFamily="18" charset="0"/>
              </a:rPr>
              <a:t>Dr. Shyama Prasad Mukherjee International Institute of Information Technology, Naya Raipur </a:t>
            </a:r>
            <a:endParaRPr lang="en-US" altLang="en-US" b="1">
              <a:solidFill>
                <a:srgbClr val="23298A"/>
              </a:solidFill>
              <a:latin typeface="Georgia" panose="02040502050405020303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048AF19-365F-10DD-38F9-6C995F77C696}"/>
              </a:ext>
            </a:extLst>
          </p:cNvPr>
          <p:cNvSpPr txBox="1">
            <a:spLocks/>
          </p:cNvSpPr>
          <p:nvPr userDrawn="1"/>
        </p:nvSpPr>
        <p:spPr>
          <a:xfrm>
            <a:off x="8374063" y="3787775"/>
            <a:ext cx="3171825" cy="4270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000" dirty="0"/>
              <a:t>Date:</a:t>
            </a:r>
          </a:p>
        </p:txBody>
      </p:sp>
      <p:sp>
        <p:nvSpPr>
          <p:cNvPr id="11" name="Tijdelijke aanduiding voor tekst 5"/>
          <p:cNvSpPr>
            <a:spLocks noGrp="1"/>
          </p:cNvSpPr>
          <p:nvPr>
            <p:ph type="body" sz="quarter" idx="13"/>
          </p:nvPr>
        </p:nvSpPr>
        <p:spPr>
          <a:xfrm>
            <a:off x="1" y="3509963"/>
            <a:ext cx="12191999" cy="1011980"/>
          </a:xfrm>
          <a:solidFill>
            <a:srgbClr val="8592BC"/>
          </a:solid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35125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2166" y="3787947"/>
            <a:ext cx="6445405" cy="508225"/>
          </a:xfrm>
        </p:spPr>
        <p:txBody>
          <a:bodyPr>
            <a:normAutofit/>
          </a:bodyPr>
          <a:lstStyle>
            <a:lvl1pPr marL="0" marR="0" indent="0" algn="l" defTabSz="685434" rtl="0" eaLnBrk="1" fontAlgn="auto" latinLnBrk="0" hangingPunct="1">
              <a:lnSpc>
                <a:spcPct val="90000"/>
              </a:lnSpc>
              <a:spcBef>
                <a:spcPts val="450"/>
              </a:spcBef>
              <a:spcAft>
                <a:spcPts val="450"/>
              </a:spcAft>
              <a:buClr>
                <a:srgbClr val="0C2577"/>
              </a:buClr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65ED89E-1650-53FF-6DFB-11E956BD689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ctr"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42676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9603CA9B-C019-8CCE-6784-7DFD6EA5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6557963"/>
            <a:ext cx="2209800" cy="300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307B0-0924-4BF6-913C-E12B8A24C71D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C8D9CE68-24AE-0390-4449-203131F7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Naya Raipur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4AB3D2BA-ABD3-A564-64EF-DACD188B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29775" y="6492875"/>
            <a:ext cx="1979613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16D787-E021-4542-8E1F-138D9DA88A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45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0F470-CD83-7A89-8F4D-8496332F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E7A9C-2ED1-48EF-AC0E-04966E787371}" type="datetime1">
              <a:rPr lang="en-IN"/>
              <a:pPr>
                <a:defRPr/>
              </a:pPr>
              <a:t>25-11-2025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77C25-8FCD-A40A-301E-3739E862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6900" y="6492875"/>
            <a:ext cx="528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Naya Raipur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BC92C-F29D-BDCB-7CF0-CA388B7D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7669CD-FBA1-44A4-A356-CB91D92E5B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13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2F318B-4092-350B-DB23-97CC3465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5C4BA-056D-4695-8C6D-964521E3AB2B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CE9A2FB-05F8-F873-1DB2-08318E44AD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94A18-6CF9-4EB3-AF69-0A54157D4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CB33C-C445-9655-6A18-501ECCA2F7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11476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324B13-2D83-F691-5A57-727C9033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433B-1882-4043-8CF2-FF609E537909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E53DFE4-E7FB-F512-A9A4-131DADAD83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D9288-7DEE-42C2-93A9-8ED0952022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E48C6F0-2FD6-7F8C-D841-E51EE4E87A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136188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823C2F-E47D-3DA5-50E8-4B1B4A30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B1ADF-FBA9-4036-98F6-19028B499837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75FF8F2-625D-7791-B0CB-39075493E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A8003-FA8C-4104-85D1-F47B4889F3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3DF47-885B-106B-DEC9-3C680DC8A86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60825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>
                <a:solidFill>
                  <a:srgbClr val="002060"/>
                </a:solidFill>
              </a:defRPr>
            </a:lvl2pPr>
            <a:lvl3pPr>
              <a:defRPr sz="2400">
                <a:solidFill>
                  <a:srgbClr val="002060"/>
                </a:solidFill>
              </a:defRPr>
            </a:lvl3pPr>
            <a:lvl4pPr>
              <a:defRPr sz="2000">
                <a:solidFill>
                  <a:srgbClr val="002060"/>
                </a:solidFill>
              </a:defRPr>
            </a:lvl4pPr>
            <a:lvl5pPr>
              <a:defRPr sz="2000">
                <a:solidFill>
                  <a:srgbClr val="002060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0206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94E364-24AB-FCF3-0E5C-F202E002D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CB44E-CC67-4BB9-BF49-4255A2041D11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5238-336B-EE0D-10CF-A094C2177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43610-9FCC-4D95-AC0C-8F118659A9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71D215-689F-8D3B-6870-F94D12FD5C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341060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0206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11E34E1-3FDE-F322-FA19-F1255B20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5F6AB-33D7-42A3-9240-F027CF5F7141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6272-60C9-184C-39D3-DB6F0F3A75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4CF75-0B06-4E84-A07F-6AB732FD1A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4F852C-E5BE-419E-63A0-56D3316A5F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235499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E102D-CC8F-C79D-182C-0F7C4668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BCF43-9846-4CA1-A0D1-C857AF6409EA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3ADEB8-D87D-AE59-5E27-941A098229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2EA1A-8200-404D-A994-A2040C3E9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EE18C6-3D93-C536-BA49-A08F87F69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247361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A251E-A96D-D0F6-A978-A3AFF72E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DBF0E-FC0C-48D1-A5B0-06D20A850B94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EA4848-E553-75B1-5615-38ABB1216B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BB194-BDD3-43FD-B158-7598AD8F56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C94DE5-502C-EA72-C076-21971921F2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  <p:extLst>
      <p:ext uri="{BB962C8B-B14F-4D97-AF65-F5344CB8AC3E}">
        <p14:creationId xmlns:p14="http://schemas.microsoft.com/office/powerpoint/2010/main" val="4017194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19">
            <a:extLst>
              <a:ext uri="{FF2B5EF4-FFF2-40B4-BE49-F238E27FC236}">
                <a16:creationId xmlns:a16="http://schemas.microsoft.com/office/drawing/2014/main" id="{0E255F0A-B55B-1B44-5CB2-00E433B52F02}"/>
              </a:ext>
            </a:extLst>
          </p:cNvPr>
          <p:cNvSpPr/>
          <p:nvPr userDrawn="1"/>
        </p:nvSpPr>
        <p:spPr bwMode="auto">
          <a:xfrm>
            <a:off x="0" y="6465888"/>
            <a:ext cx="12192000" cy="404812"/>
          </a:xfrm>
          <a:prstGeom prst="rect">
            <a:avLst/>
          </a:prstGeom>
          <a:solidFill>
            <a:srgbClr val="0C2577"/>
          </a:solidFill>
          <a:ln>
            <a:noFill/>
          </a:ln>
          <a:effectLst/>
        </p:spPr>
        <p:txBody>
          <a:bodyPr lIns="68544" tIns="34272" rIns="68544" bIns="34272"/>
          <a:lstStyle/>
          <a:p>
            <a:pPr defTabSz="685434" eaLnBrk="1" hangingPunct="1">
              <a:lnSpc>
                <a:spcPct val="95000"/>
              </a:lnSpc>
              <a:buFont typeface="Arial" charset="0"/>
              <a:buNone/>
              <a:defRPr/>
            </a:pPr>
            <a:endParaRPr lang="en-US" sz="1499" kern="0" dirty="0">
              <a:solidFill>
                <a:srgbClr val="FFFFFF"/>
              </a:solidFill>
              <a:latin typeface="Minion" pitchFamily="2" charset="0"/>
            </a:endParaRPr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44391BFA-F502-2DEE-9A12-A67AF7032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3FEB1B4F-9A47-60E3-DEE8-0B75DA595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EA7-C774-064D-BC2C-86D438019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6518275"/>
            <a:ext cx="2209800" cy="300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AEAB96FD-4CE7-48D0-A29B-8E6D020866AC}" type="datetime1">
              <a:rPr lang="en-IN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DB1EB-19D4-82A1-1F3D-34A8381D5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07550" y="6453188"/>
            <a:ext cx="197961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8E2226D-F68E-4980-9A98-546D330303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A9C6F240-4101-9764-14EF-55C1F14E88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550" y="230188"/>
            <a:ext cx="14605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392870C-6210-2217-13BF-FC758F884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59088" y="6492875"/>
            <a:ext cx="65976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>
              <a:defRPr/>
            </a:pPr>
            <a:r>
              <a:rPr lang="en-US"/>
              <a:t>International Institute of Information Technology, </a:t>
            </a:r>
            <a:r>
              <a:rPr lang="en-US" err="1"/>
              <a:t>Naya</a:t>
            </a:r>
            <a:r>
              <a:rPr lang="en-US"/>
              <a:t> Raipur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09033" TargetMode="External"/><Relationship Id="rId2" Type="http://schemas.openxmlformats.org/officeDocument/2006/relationships/hyperlink" Target="https://www.researchgate.net/profile/Fatih-Erden/publication/349251847_Drone_Remote_Controller_RF_Signal_Dataset/data/6026a69d92851c4ed56a8996/DroneRC-RF-Dataset.pdf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mc.ncbi.nlm.nih.gov/articles/PMC10181070/?utm_source=chatgpt.com" TargetMode="External"/><Relationship Id="rId4" Type="http://schemas.openxmlformats.org/officeDocument/2006/relationships/hyperlink" Target="https://arxiv.org/pdf/2003.02656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-dataport.org/open-access/drone-remote-controller-rf-signal-dataset?check_logged_in=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5">
            <a:extLst>
              <a:ext uri="{FF2B5EF4-FFF2-40B4-BE49-F238E27FC236}">
                <a16:creationId xmlns:a16="http://schemas.microsoft.com/office/drawing/2014/main" id="{F14C67C0-19FA-42B7-F431-7A9E3F23C45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0" y="2827177"/>
            <a:ext cx="12192000" cy="1924211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ddgg</a:t>
            </a:r>
            <a:endParaRPr lang="en-US" altLang="en-US" dirty="0"/>
          </a:p>
        </p:txBody>
      </p:sp>
      <p:sp>
        <p:nvSpPr>
          <p:cNvPr id="6147" name="Title 3">
            <a:extLst>
              <a:ext uri="{FF2B5EF4-FFF2-40B4-BE49-F238E27FC236}">
                <a16:creationId xmlns:a16="http://schemas.microsoft.com/office/drawing/2014/main" id="{E16B9159-0568-67F7-0DA5-D7600151C4D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471488"/>
            <a:ext cx="9144000" cy="1635125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Detection using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signals</a:t>
            </a:r>
          </a:p>
        </p:txBody>
      </p:sp>
      <p:sp>
        <p:nvSpPr>
          <p:cNvPr id="6150" name="Footer Placeholder 9">
            <a:extLst>
              <a:ext uri="{FF2B5EF4-FFF2-40B4-BE49-F238E27FC236}">
                <a16:creationId xmlns:a16="http://schemas.microsoft.com/office/drawing/2014/main" id="{CA7080B7-5C98-86B0-DB21-F28B94C5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0" y="6492875"/>
            <a:ext cx="60055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234C047-0F62-3AEE-D6DC-FD5FDE1F0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27177"/>
            <a:ext cx="12192000" cy="192421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:                    Supervisor : Dr.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Shrivishal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Tripathi                  Date  : 25 Nov 2025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Sujal Kumar Singh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Vivaan Bagga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Pranjal Agrawal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1">
            <a:extLst>
              <a:ext uri="{FF2B5EF4-FFF2-40B4-BE49-F238E27FC236}">
                <a16:creationId xmlns:a16="http://schemas.microsoft.com/office/drawing/2014/main" id="{8BD382C4-B6C1-F920-7422-39F55B194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350"/>
            <a:ext cx="10515600" cy="4646613"/>
          </a:xfrm>
        </p:spPr>
        <p:txBody>
          <a:bodyPr/>
          <a:lstStyle/>
          <a:p>
            <a:pPr>
              <a:defRPr/>
            </a:pPr>
            <a:r>
              <a:rPr lang="en-IN" altLang="en-US" sz="2400" dirty="0"/>
              <a:t>Introduction</a:t>
            </a:r>
          </a:p>
          <a:p>
            <a:pPr>
              <a:defRPr/>
            </a:pPr>
            <a:r>
              <a:rPr lang="en-IN" altLang="en-US" sz="2400" dirty="0"/>
              <a:t>Motivation: Issues and Challenges</a:t>
            </a:r>
          </a:p>
          <a:p>
            <a:pPr>
              <a:defRPr/>
            </a:pPr>
            <a:r>
              <a:rPr lang="en-IN" altLang="en-US" sz="2400" dirty="0"/>
              <a:t>Literature Review</a:t>
            </a:r>
          </a:p>
          <a:p>
            <a:pPr>
              <a:defRPr/>
            </a:pPr>
            <a:r>
              <a:rPr lang="en-IN" altLang="en-US" sz="2400" dirty="0"/>
              <a:t>Problem definition </a:t>
            </a:r>
          </a:p>
          <a:p>
            <a:pPr>
              <a:defRPr/>
            </a:pPr>
            <a:r>
              <a:rPr lang="en-IN" altLang="en-US" sz="2400" dirty="0"/>
              <a:t>Objectives</a:t>
            </a:r>
          </a:p>
          <a:p>
            <a:pPr>
              <a:defRPr/>
            </a:pPr>
            <a:r>
              <a:rPr lang="en-IN" altLang="en-US" sz="2400" dirty="0"/>
              <a:t>Proposed Framework/Model/System/Methodology</a:t>
            </a:r>
          </a:p>
          <a:p>
            <a:pPr lvl="1">
              <a:defRPr/>
            </a:pPr>
            <a:r>
              <a:rPr lang="en-IN" altLang="en-US" sz="2000" dirty="0"/>
              <a:t> Explain with a block diagram and others</a:t>
            </a:r>
          </a:p>
          <a:p>
            <a:pPr>
              <a:defRPr/>
            </a:pPr>
            <a:r>
              <a:rPr lang="en-IN" altLang="en-US" sz="2400" dirty="0"/>
              <a:t>Experimental results and discussion </a:t>
            </a:r>
          </a:p>
          <a:p>
            <a:pPr>
              <a:defRPr/>
            </a:pPr>
            <a:r>
              <a:rPr lang="en-IN" altLang="en-US" sz="2400" dirty="0"/>
              <a:t>Plan of action for the project</a:t>
            </a:r>
          </a:p>
          <a:p>
            <a:pPr>
              <a:defRPr/>
            </a:pPr>
            <a:endParaRPr lang="en-IN" altLang="en-US" sz="2400" dirty="0"/>
          </a:p>
        </p:txBody>
      </p:sp>
      <p:sp>
        <p:nvSpPr>
          <p:cNvPr id="7171" name="Title 2">
            <a:extLst>
              <a:ext uri="{FF2B5EF4-FFF2-40B4-BE49-F238E27FC236}">
                <a16:creationId xmlns:a16="http://schemas.microsoft.com/office/drawing/2014/main" id="{395742F0-30A5-42C5-4E38-2FD5A7ADC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/>
          <a:lstStyle/>
          <a:p>
            <a:r>
              <a:rPr lang="en-IN" altLang="en-US"/>
              <a:t>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1D602-858F-67DF-C5F1-62214746FF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C7FD2E18-AB39-B3A2-16AE-8707D865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036D4FEF-689E-6AFB-0626-53432073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01D49C1-D7A8-4ECE-ABAA-AF373A4A43C7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70B37A85-AB96-BFCF-AA6C-02397F7C1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9167" y="365125"/>
            <a:ext cx="10030571" cy="1325563"/>
          </a:xfrm>
        </p:spPr>
        <p:txBody>
          <a:bodyPr/>
          <a:lstStyle/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774F642C-8761-E7CC-1DB4-0AACCA35E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9167" y="1539551"/>
            <a:ext cx="10784633" cy="4637412"/>
          </a:xfrm>
        </p:spPr>
        <p:txBody>
          <a:bodyPr/>
          <a:lstStyle/>
          <a:p>
            <a:r>
              <a:rPr lang="en-US" sz="2400" b="1" dirty="0"/>
              <a:t>Drones</a:t>
            </a:r>
            <a:r>
              <a:rPr lang="en-US" sz="2400" dirty="0"/>
              <a:t> have rapidly grown in popularity for commercial, recreational, and defense purposes, but they also pose significant security and privacy threats. </a:t>
            </a:r>
          </a:p>
          <a:p>
            <a:r>
              <a:rPr lang="en-US" sz="2400" b="1" dirty="0"/>
              <a:t>Limitations of Traditional Methods</a:t>
            </a:r>
            <a:r>
              <a:rPr lang="en-US" sz="2400" dirty="0"/>
              <a:t> - Vision-based, radar, and acoustic detection systems suffer from challenges like high cost, line-of-sight dependency, or environmental noise.</a:t>
            </a:r>
          </a:p>
          <a:p>
            <a:r>
              <a:rPr lang="en-US" sz="2400" b="1" dirty="0"/>
              <a:t>RF-Based Approach</a:t>
            </a:r>
            <a:r>
              <a:rPr lang="en-US" sz="2400" dirty="0"/>
              <a:t> - Since drones rely on radio signals for control and communication, analyzing their RF emissions provides a low-cost, passive, and effective detection method.</a:t>
            </a:r>
          </a:p>
          <a:p>
            <a:r>
              <a:rPr lang="en-US" sz="2400" b="1" dirty="0"/>
              <a:t>Our Project Goal</a:t>
            </a:r>
            <a:r>
              <a:rPr lang="en-US" sz="2400" dirty="0"/>
              <a:t> - To design a complete </a:t>
            </a:r>
            <a:r>
              <a:rPr lang="en-US" sz="2400" b="1" dirty="0"/>
              <a:t>RF-based drone detection system</a:t>
            </a:r>
            <a:r>
              <a:rPr lang="en-US" sz="2400" dirty="0"/>
              <a:t> using SDR for acquisition, signal processing for feature extraction, and machine learning/CNN models for accurate classification and real-time detection.</a:t>
            </a:r>
          </a:p>
        </p:txBody>
      </p:sp>
      <p:sp>
        <p:nvSpPr>
          <p:cNvPr id="8196" name="Date Placeholder 5">
            <a:extLst>
              <a:ext uri="{FF2B5EF4-FFF2-40B4-BE49-F238E27FC236}">
                <a16:creationId xmlns:a16="http://schemas.microsoft.com/office/drawing/2014/main" id="{50B50137-4D04-14A8-700E-1AB8FD178D3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01-10-2024</a:t>
            </a:r>
          </a:p>
        </p:txBody>
      </p:sp>
      <p:sp>
        <p:nvSpPr>
          <p:cNvPr id="8197" name="Slide Number Placeholder 6">
            <a:extLst>
              <a:ext uri="{FF2B5EF4-FFF2-40B4-BE49-F238E27FC236}">
                <a16:creationId xmlns:a16="http://schemas.microsoft.com/office/drawing/2014/main" id="{CAF54CF8-F65B-76A1-3AF9-71C56884C8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8FF0FC2-9972-4778-851D-142EE93EB77B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8198" name="Footer Placeholder 9">
            <a:extLst>
              <a:ext uri="{FF2B5EF4-FFF2-40B4-BE49-F238E27FC236}">
                <a16:creationId xmlns:a16="http://schemas.microsoft.com/office/drawing/2014/main" id="{A1F2A1C5-CC0E-CC96-D592-75B58F4F7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129BD5F-AED7-A617-48F4-36AC12A05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456" y="983886"/>
            <a:ext cx="10126772" cy="565513"/>
          </a:xfrm>
        </p:spPr>
        <p:txBody>
          <a:bodyPr/>
          <a:lstStyle/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  </a:t>
            </a:r>
          </a:p>
        </p:txBody>
      </p:sp>
      <p:sp>
        <p:nvSpPr>
          <p:cNvPr id="9220" name="Date Placeholder 5">
            <a:extLst>
              <a:ext uri="{FF2B5EF4-FFF2-40B4-BE49-F238E27FC236}">
                <a16:creationId xmlns:a16="http://schemas.microsoft.com/office/drawing/2014/main" id="{94A5E622-A5BD-261F-D466-F055A165B37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318D8D1-20DD-4417-8BF8-0705F53B9440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25-11-2025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9221" name="Slide Number Placeholder 6">
            <a:extLst>
              <a:ext uri="{FF2B5EF4-FFF2-40B4-BE49-F238E27FC236}">
                <a16:creationId xmlns:a16="http://schemas.microsoft.com/office/drawing/2014/main" id="{D1F45408-B931-0501-9F46-ACCFDD7E02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396A227-F837-4FAD-8CF6-B8F3DB8AF356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9222" name="Footer Placeholder 9">
            <a:extLst>
              <a:ext uri="{FF2B5EF4-FFF2-40B4-BE49-F238E27FC236}">
                <a16:creationId xmlns:a16="http://schemas.microsoft.com/office/drawing/2014/main" id="{1130CB9D-2638-E6BB-5EAC-927B9E231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13CA5BCD-5AD6-6ADE-0F56-8870281B0D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6538" y="1989147"/>
            <a:ext cx="10836165" cy="374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latinLnBrk="0">
              <a:buClrTx/>
              <a:buSzTx/>
              <a:tabLst/>
            </a:pPr>
            <a:r>
              <a:rPr lang="en-US" altLang="en-US" sz="2400" b="1" dirty="0"/>
              <a:t>Growing Threat of Drones -</a:t>
            </a:r>
            <a:r>
              <a:rPr lang="en-US" altLang="en-US" sz="2400" dirty="0"/>
              <a:t> Unauthorized or malicious drone activity poses risks to airports, sensitive areas, and public safety.</a:t>
            </a:r>
          </a:p>
          <a:p>
            <a:pPr marR="0" lvl="0" defTabSz="914400" latinLnBrk="0">
              <a:buClrTx/>
              <a:buSzTx/>
              <a:tabLst/>
            </a:pPr>
            <a:r>
              <a:rPr lang="en-US" altLang="en-US" sz="2400" b="1" dirty="0"/>
              <a:t>Limitations of Existing Detection - </a:t>
            </a:r>
            <a:r>
              <a:rPr lang="en-US" altLang="en-US" sz="2400" dirty="0"/>
              <a:t>Vision, radar, and acoustic methods are often expensive, line-of-sight dependent, and susceptible to environmental noise.</a:t>
            </a:r>
          </a:p>
          <a:p>
            <a:pPr marR="0" lvl="0" defTabSz="914400" latinLnBrk="0">
              <a:buClrTx/>
              <a:buSzTx/>
              <a:tabLst/>
            </a:pPr>
            <a:r>
              <a:rPr lang="en-US" altLang="en-US" sz="2400" dirty="0"/>
              <a:t>Need for a </a:t>
            </a:r>
            <a:r>
              <a:rPr lang="en-US" altLang="en-US" sz="2400" b="1" dirty="0"/>
              <a:t>Reliable, Low-Cost</a:t>
            </a:r>
            <a:r>
              <a:rPr lang="en-US" altLang="en-US" sz="2400" dirty="0"/>
              <a:t> Solution - A passive approach using RF signals can detect drones without requiring line-of-sight and at a fraction of the cost of conventional systems.</a:t>
            </a:r>
          </a:p>
          <a:p>
            <a:pPr marR="0" lvl="0" defTabSz="914400" latinLnBrk="0">
              <a:buClrTx/>
              <a:buSzTx/>
              <a:tabLst/>
            </a:pPr>
            <a:r>
              <a:rPr lang="en-US" altLang="en-US" sz="2400" b="1" dirty="0"/>
              <a:t>Signal-Based Fingerprinting -</a:t>
            </a:r>
            <a:r>
              <a:rPr lang="en-US" altLang="en-US" sz="2400" dirty="0"/>
              <a:t> Each drone emits unique RF patterns due to hardware imperfections, enabling identification and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64E779DA-A0B9-A169-0984-D5B2927EA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3476" y="168166"/>
            <a:ext cx="10116262" cy="1208690"/>
          </a:xfrm>
        </p:spPr>
        <p:txBody>
          <a:bodyPr/>
          <a:lstStyle/>
          <a:p>
            <a:pPr eaLnBrk="1" hangingPunct="1"/>
            <a:r>
              <a:rPr lang="en-US" altLang="en-US" b="1" dirty="0"/>
              <a:t>Literature Review</a:t>
            </a:r>
          </a:p>
        </p:txBody>
      </p:sp>
      <p:sp>
        <p:nvSpPr>
          <p:cNvPr id="10244" name="Date Placeholder 5">
            <a:extLst>
              <a:ext uri="{FF2B5EF4-FFF2-40B4-BE49-F238E27FC236}">
                <a16:creationId xmlns:a16="http://schemas.microsoft.com/office/drawing/2014/main" id="{77B6AC64-2365-F966-DE23-7EB033EC51A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6F74480-35AA-41D4-8269-FE98418364B5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25-11-2025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0245" name="Slide Number Placeholder 6">
            <a:extLst>
              <a:ext uri="{FF2B5EF4-FFF2-40B4-BE49-F238E27FC236}">
                <a16:creationId xmlns:a16="http://schemas.microsoft.com/office/drawing/2014/main" id="{36FC4F2A-D4ED-3EAE-7CE9-B796489FE4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B7687C8-7730-4632-8EE7-CBDD3AD8A2B2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0246" name="Footer Placeholder 9">
            <a:extLst>
              <a:ext uri="{FF2B5EF4-FFF2-40B4-BE49-F238E27FC236}">
                <a16:creationId xmlns:a16="http://schemas.microsoft.com/office/drawing/2014/main" id="{17A28B0B-C54B-A948-30A4-769F996C6B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B8298B-CAE5-C587-2447-428D5F391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977306"/>
              </p:ext>
            </p:extLst>
          </p:nvPr>
        </p:nvGraphicFramePr>
        <p:xfrm>
          <a:off x="602454" y="1058228"/>
          <a:ext cx="999490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1634">
                  <a:extLst>
                    <a:ext uri="{9D8B030D-6E8A-4147-A177-3AD203B41FA5}">
                      <a16:colId xmlns:a16="http://schemas.microsoft.com/office/drawing/2014/main" val="3147190351"/>
                    </a:ext>
                  </a:extLst>
                </a:gridCol>
                <a:gridCol w="3331634">
                  <a:extLst>
                    <a:ext uri="{9D8B030D-6E8A-4147-A177-3AD203B41FA5}">
                      <a16:colId xmlns:a16="http://schemas.microsoft.com/office/drawing/2014/main" val="1807114011"/>
                    </a:ext>
                  </a:extLst>
                </a:gridCol>
                <a:gridCol w="3331634">
                  <a:extLst>
                    <a:ext uri="{9D8B030D-6E8A-4147-A177-3AD203B41FA5}">
                      <a16:colId xmlns:a16="http://schemas.microsoft.com/office/drawing/2014/main" val="2799186885"/>
                    </a:ext>
                  </a:extLst>
                </a:gridCol>
              </a:tblGrid>
              <a:tr h="348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Reference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Technique Used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Dataset Used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956333"/>
                  </a:ext>
                </a:extLst>
              </a:tr>
              <a:tr h="1653797">
                <a:tc>
                  <a:txBody>
                    <a:bodyPr/>
                    <a:lstStyle/>
                    <a:p>
                      <a:r>
                        <a:rPr lang="en-US" b="1" dirty="0">
                          <a:hlinkClick r:id="rId2"/>
                        </a:rPr>
                        <a:t>DroneRC-RF-Dataset.pdf</a:t>
                      </a:r>
                      <a:br>
                        <a:rPr lang="en-US" b="1" dirty="0"/>
                      </a:br>
                      <a:r>
                        <a:rPr lang="en-US" b="1" dirty="0"/>
                        <a:t>(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Martins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Ezuma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Fatih Erden, Chethan K.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Anjinappa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Ozgur Ozdemir, Ismail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Guvenc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"Drone Remote Controller RF Signal Dataset", IEEE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Dataport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RF signal processing, 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MPACT Drone RC RF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392329"/>
                  </a:ext>
                </a:extLst>
              </a:tr>
              <a:tr h="1392671"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RFUAV: A Benchmark Dataset for Unmanned Aerial Vehicle Detection and Identification</a:t>
                      </a:r>
                      <a:br>
                        <a:rPr lang="en-US" dirty="0"/>
                      </a:br>
                      <a:r>
                        <a:rPr lang="en-US" dirty="0"/>
                        <a:t>(https://arxiv.org/abs/2503.09033)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Deep learning, preprocessing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RFUAV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826699"/>
                  </a:ext>
                </a:extLst>
              </a:tr>
              <a:tr h="1131545"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Machine Learning Framework for RF-Based Drone Detection and Identification</a:t>
                      </a:r>
                      <a:br>
                        <a:rPr lang="en-US" dirty="0"/>
                      </a:br>
                      <a:r>
                        <a:rPr lang="en-US" dirty="0"/>
                        <a:t>(10.48550/arXiv.2003.02656)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XGBoost</a:t>
                      </a:r>
                      <a:r>
                        <a:rPr lang="en-US" dirty="0"/>
                        <a:t>, machine learning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Low-band RF signals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501032"/>
                  </a:ext>
                </a:extLst>
              </a:tr>
              <a:tr h="60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linkClick r:id="rId5"/>
                        </a:rPr>
                        <a:t>RF-Enabled Deep-Learning-Assisted Drone Detection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Deep learning, RF signal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DroneRF</a:t>
                      </a:r>
                      <a:r>
                        <a:rPr lang="en-US" dirty="0"/>
                        <a:t>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4331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>
            <a:extLst>
              <a:ext uri="{FF2B5EF4-FFF2-40B4-BE49-F238E27FC236}">
                <a16:creationId xmlns:a16="http://schemas.microsoft.com/office/drawing/2014/main" id="{7F734A87-88A0-E1E0-0AA1-203471B734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500" y="1690688"/>
            <a:ext cx="10515600" cy="4351337"/>
          </a:xfrm>
        </p:spPr>
        <p:txBody>
          <a:bodyPr/>
          <a:lstStyle/>
          <a:p>
            <a:pPr algn="just" eaLnBrk="1" hangingPunct="1"/>
            <a:r>
              <a:rPr lang="en-US" altLang="en-US" sz="2400" b="1" dirty="0"/>
              <a:t>Limited Generalization of Existing Models - </a:t>
            </a:r>
            <a:r>
              <a:rPr lang="en-US" altLang="en-US" sz="2400" dirty="0"/>
              <a:t>Many RF-based drone detection systems perform well on controlled datasets but fail to generalize across different drone types, remote controllers, and environmental conditions. </a:t>
            </a:r>
          </a:p>
          <a:p>
            <a:pPr algn="just" eaLnBrk="1" hangingPunct="1"/>
            <a:r>
              <a:rPr lang="en-US" altLang="en-US" sz="2400" b="1" dirty="0"/>
              <a:t>Inefficient Feature Extraction - </a:t>
            </a:r>
            <a:r>
              <a:rPr lang="en-US" altLang="en-US" sz="2400" dirty="0"/>
              <a:t>Prior works often rely on hand-crafted features or simple time/frequency representations, which may miss subtle device-specific signal characteristics. </a:t>
            </a:r>
          </a:p>
          <a:p>
            <a:pPr algn="just" eaLnBrk="1" hangingPunct="1"/>
            <a:r>
              <a:rPr lang="en-US" altLang="en-US" sz="2400" b="1" dirty="0"/>
              <a:t>Underutilization of CNNs for RF Signals -</a:t>
            </a:r>
            <a:r>
              <a:rPr lang="en-US" altLang="en-US" sz="2400" dirty="0"/>
              <a:t> While spectrograms and IQ data can be used for CNN classification, few studies fully exploit deep learning to capture both temporal and spectral patterns. </a:t>
            </a:r>
          </a:p>
          <a:p>
            <a:pPr algn="just" eaLnBrk="1" hangingPunct="1"/>
            <a:r>
              <a:rPr lang="en-US" altLang="en-US" sz="2400" b="1" dirty="0"/>
              <a:t>Small or Biased Datasets -</a:t>
            </a:r>
            <a:r>
              <a:rPr lang="en-US" altLang="en-US" sz="2400" dirty="0"/>
              <a:t> Many previous studies used small datasets or datasets lacking diversity in drone models and controllers, limiting real-world applicability.</a:t>
            </a:r>
          </a:p>
        </p:txBody>
      </p:sp>
      <p:sp>
        <p:nvSpPr>
          <p:cNvPr id="11267" name="Title 2">
            <a:extLst>
              <a:ext uri="{FF2B5EF4-FFF2-40B4-BE49-F238E27FC236}">
                <a16:creationId xmlns:a16="http://schemas.microsoft.com/office/drawing/2014/main" id="{24CD09AD-5124-BD89-7E87-FD5DBC350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79000" cy="1325563"/>
          </a:xfrm>
        </p:spPr>
        <p:txBody>
          <a:bodyPr/>
          <a:lstStyle/>
          <a:p>
            <a:pPr eaLnBrk="1" hangingPunct="1"/>
            <a:r>
              <a:rPr lang="en-US" altLang="en-US" b="1" dirty="0"/>
              <a:t>Problem Definition/Problem statement  </a:t>
            </a:r>
          </a:p>
        </p:txBody>
      </p:sp>
      <p:sp>
        <p:nvSpPr>
          <p:cNvPr id="11268" name="Date Placeholder 3">
            <a:extLst>
              <a:ext uri="{FF2B5EF4-FFF2-40B4-BE49-F238E27FC236}">
                <a16:creationId xmlns:a16="http://schemas.microsoft.com/office/drawing/2014/main" id="{706A7C2E-FDF9-408A-F080-5950ECD9F78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7F29AFA-A661-4E1F-91D8-96641D0A4B97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25-11-2025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1269" name="Footer Placeholder 4">
            <a:extLst>
              <a:ext uri="{FF2B5EF4-FFF2-40B4-BE49-F238E27FC236}">
                <a16:creationId xmlns:a16="http://schemas.microsoft.com/office/drawing/2014/main" id="{0A58F8DA-52B1-D35A-1D09-79D33EE514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1270" name="Slide Number Placeholder 5">
            <a:extLst>
              <a:ext uri="{FF2B5EF4-FFF2-40B4-BE49-F238E27FC236}">
                <a16:creationId xmlns:a16="http://schemas.microsoft.com/office/drawing/2014/main" id="{9AA4DC6E-5289-E31E-8F6D-022A1F96E3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55A447A-27B1-4CBB-B0DB-AE0366F9BBC8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9D1F671-E86B-F8E3-36F2-E828C4007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US" altLang="en-US" b="1"/>
              <a:t>Research Gap   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8D03C97-0671-0FEB-43AB-21FFFB8E1B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/>
            <a:r>
              <a:rPr lang="en-US" altLang="en-US" sz="2400" b="1" dirty="0"/>
              <a:t>Limited Use of Deep Temporal and Frequency Features</a:t>
            </a:r>
            <a:r>
              <a:rPr lang="en-US" altLang="en-US" sz="2400" dirty="0"/>
              <a:t>: Some approaches focus on feature extraction from raw RF signals but do not fully leverage advanced signal representations (like Hilbert transform, wavelet, or spectrogram-based methods). </a:t>
            </a:r>
          </a:p>
          <a:p>
            <a:pPr algn="just"/>
            <a:r>
              <a:rPr lang="en-US" altLang="en-US" sz="2400" b="1" dirty="0"/>
              <a:t>Gap</a:t>
            </a:r>
            <a:r>
              <a:rPr lang="en-US" altLang="en-US" sz="2400" dirty="0"/>
              <a:t>: There is scope for richer feature engineering or end-to-end deep learning that captures both temporal and frequency-domain characteristics. </a:t>
            </a:r>
          </a:p>
          <a:p>
            <a:pPr algn="just"/>
            <a:r>
              <a:rPr lang="en-US" altLang="en-US" sz="2400" b="1" dirty="0"/>
              <a:t>Model Selection </a:t>
            </a:r>
            <a:r>
              <a:rPr lang="en-US" altLang="en-US" sz="2400" dirty="0"/>
              <a:t>and </a:t>
            </a:r>
            <a:r>
              <a:rPr lang="en-US" altLang="en-US" sz="2400" b="1" dirty="0"/>
              <a:t>Comparative Analysis </a:t>
            </a:r>
            <a:r>
              <a:rPr lang="en-US" altLang="en-US" sz="2400" dirty="0"/>
              <a:t>Studies often use a single model type (e.g., CNN, </a:t>
            </a:r>
            <a:r>
              <a:rPr lang="en-US" altLang="en-US" sz="2400" dirty="0" err="1"/>
              <a:t>XGBoost</a:t>
            </a:r>
            <a:r>
              <a:rPr lang="en-US" altLang="en-US" sz="2400" dirty="0"/>
              <a:t>) without comprehensive comparison across different machine learning and deep learning techniques.  </a:t>
            </a:r>
          </a:p>
          <a:p>
            <a:pPr algn="just"/>
            <a:r>
              <a:rPr lang="en-US" altLang="en-US" sz="2400" b="1" dirty="0"/>
              <a:t>Gap</a:t>
            </a:r>
            <a:r>
              <a:rPr lang="en-US" altLang="en-US" sz="2400" dirty="0"/>
              <a:t>: Need systematic evaluation of multiple models to identify the optimal approach for accuracy, robustness, and computational efficiency.</a:t>
            </a:r>
          </a:p>
        </p:txBody>
      </p:sp>
      <p:sp>
        <p:nvSpPr>
          <p:cNvPr id="12292" name="Date Placeholder 5">
            <a:extLst>
              <a:ext uri="{FF2B5EF4-FFF2-40B4-BE49-F238E27FC236}">
                <a16:creationId xmlns:a16="http://schemas.microsoft.com/office/drawing/2014/main" id="{D890E7C6-097F-D403-FA3C-DBA0EA244BA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6AB51B0-4914-46F7-8B07-9EFDEAD1A64E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25-11-2025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2293" name="Slide Number Placeholder 6">
            <a:extLst>
              <a:ext uri="{FF2B5EF4-FFF2-40B4-BE49-F238E27FC236}">
                <a16:creationId xmlns:a16="http://schemas.microsoft.com/office/drawing/2014/main" id="{BC80FC21-25E0-CA4D-6E87-0F9B57E32F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00F4900-A8CA-41F7-88A6-CB595F94CE0E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2294" name="Footer Placeholder 9">
            <a:extLst>
              <a:ext uri="{FF2B5EF4-FFF2-40B4-BE49-F238E27FC236}">
                <a16:creationId xmlns:a16="http://schemas.microsoft.com/office/drawing/2014/main" id="{793BCB25-1D1B-5017-E90F-59F4A264C3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>
            <a:extLst>
              <a:ext uri="{FF2B5EF4-FFF2-40B4-BE49-F238E27FC236}">
                <a16:creationId xmlns:a16="http://schemas.microsoft.com/office/drawing/2014/main" id="{6AB18FED-10A1-C677-CB24-47340490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Develop a robust </a:t>
            </a:r>
            <a:r>
              <a:rPr lang="en-US" altLang="en-US" sz="2400" b="1" dirty="0"/>
              <a:t>RF-based drone detection system </a:t>
            </a:r>
            <a:r>
              <a:rPr lang="en-US" altLang="en-US" sz="2400" dirty="0"/>
              <a:t>using the MPACT Drone RC dataset. </a:t>
            </a:r>
          </a:p>
          <a:p>
            <a:pPr>
              <a:defRPr/>
            </a:pPr>
            <a:r>
              <a:rPr lang="en-US" altLang="en-US" sz="2400" dirty="0"/>
              <a:t>Acquire and process </a:t>
            </a:r>
            <a:r>
              <a:rPr lang="en-US" altLang="en-US" sz="2400" b="1" dirty="0"/>
              <a:t>IQ signals </a:t>
            </a:r>
            <a:r>
              <a:rPr lang="en-US" altLang="en-US" sz="2400" dirty="0"/>
              <a:t>from drone remote controllers using Software Defined Radio (SDR). </a:t>
            </a:r>
          </a:p>
          <a:p>
            <a:pPr>
              <a:defRPr/>
            </a:pPr>
            <a:r>
              <a:rPr lang="en-US" altLang="en-US" sz="2400" dirty="0"/>
              <a:t>Extract meaningful features from RF signals using </a:t>
            </a:r>
            <a:r>
              <a:rPr lang="en-US" altLang="en-US" sz="2400" b="1" dirty="0"/>
              <a:t>Hilbert transform</a:t>
            </a:r>
            <a:r>
              <a:rPr lang="en-US" altLang="en-US" sz="2400" dirty="0"/>
              <a:t>, statistical measures, and spectrogram representations. </a:t>
            </a:r>
          </a:p>
          <a:p>
            <a:pPr>
              <a:defRPr/>
            </a:pPr>
            <a:r>
              <a:rPr lang="en-US" altLang="en-US" sz="2400" dirty="0"/>
              <a:t>Design and train </a:t>
            </a:r>
            <a:r>
              <a:rPr lang="en-US" altLang="en-US" sz="2400" b="1" dirty="0"/>
              <a:t>CNN</a:t>
            </a:r>
            <a:r>
              <a:rPr lang="en-US" altLang="en-US" sz="2400" dirty="0"/>
              <a:t> models to classify drone signals with high accuracy across different devices and controllers. </a:t>
            </a:r>
          </a:p>
          <a:p>
            <a:pPr>
              <a:defRPr/>
            </a:pPr>
            <a:r>
              <a:rPr lang="en-US" altLang="en-US" sz="2400" dirty="0"/>
              <a:t>Ensure the system can handle noisy and interference-prone environments effectively. Compare model performance against classical machine learning approaches like Random Forest to validate improvements.</a:t>
            </a:r>
            <a:endParaRPr lang="en-IN" altLang="en-US" sz="2400" dirty="0"/>
          </a:p>
        </p:txBody>
      </p:sp>
      <p:sp>
        <p:nvSpPr>
          <p:cNvPr id="13315" name="Title 2">
            <a:extLst>
              <a:ext uri="{FF2B5EF4-FFF2-40B4-BE49-F238E27FC236}">
                <a16:creationId xmlns:a16="http://schemas.microsoft.com/office/drawing/2014/main" id="{E59CC6F7-F240-0BF1-9CF8-79A8F7F5B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b="1"/>
              <a:t>Objective (s) of the Project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0E062-010A-7147-C186-DB245B14DA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3317" name="Footer Placeholder 4">
            <a:extLst>
              <a:ext uri="{FF2B5EF4-FFF2-40B4-BE49-F238E27FC236}">
                <a16:creationId xmlns:a16="http://schemas.microsoft.com/office/drawing/2014/main" id="{E79084B1-3604-24C7-0544-8731B063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3318" name="Slide Number Placeholder 5">
            <a:extLst>
              <a:ext uri="{FF2B5EF4-FFF2-40B4-BE49-F238E27FC236}">
                <a16:creationId xmlns:a16="http://schemas.microsoft.com/office/drawing/2014/main" id="{C86BCF87-F067-2345-810C-541EEA14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C047399-AF5B-4A46-954A-9D5168CB061B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2189CBA-851D-A5EE-3615-D31EA22CF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9761538" cy="1325563"/>
          </a:xfrm>
        </p:spPr>
        <p:txBody>
          <a:bodyPr/>
          <a:lstStyle/>
          <a:p>
            <a:pPr eaLnBrk="1" hangingPunct="1"/>
            <a:r>
              <a:rPr lang="en-IN" altLang="en-US" b="1"/>
              <a:t>Proposed Framework/Methodology</a:t>
            </a:r>
            <a:r>
              <a:rPr lang="en-US" altLang="en-US" b="1"/>
              <a:t>   </a:t>
            </a:r>
          </a:p>
        </p:txBody>
      </p:sp>
      <p:sp>
        <p:nvSpPr>
          <p:cNvPr id="14340" name="Date Placeholder 5">
            <a:extLst>
              <a:ext uri="{FF2B5EF4-FFF2-40B4-BE49-F238E27FC236}">
                <a16:creationId xmlns:a16="http://schemas.microsoft.com/office/drawing/2014/main" id="{0E5D7E35-B798-A33F-E305-032CBF878B5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266700" y="6518275"/>
            <a:ext cx="2209800" cy="300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8679ABBA-6DDB-43A7-9634-AD2C684C1412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25-11-2025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4341" name="Slide Number Placeholder 6">
            <a:extLst>
              <a:ext uri="{FF2B5EF4-FFF2-40B4-BE49-F238E27FC236}">
                <a16:creationId xmlns:a16="http://schemas.microsoft.com/office/drawing/2014/main" id="{B70653CB-D019-F5A0-BE3F-26CDBC00F8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607550" y="6453188"/>
            <a:ext cx="197961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FC5A67B-32F5-48AD-9061-DCEF1C23E797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4342" name="Footer Placeholder 9">
            <a:extLst>
              <a:ext uri="{FF2B5EF4-FFF2-40B4-BE49-F238E27FC236}">
                <a16:creationId xmlns:a16="http://schemas.microsoft.com/office/drawing/2014/main" id="{D367EBE1-2F30-84D0-12EE-650DDEE1F5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401077-5AC3-B7FD-AA4E-9896059ECDFB}"/>
              </a:ext>
            </a:extLst>
          </p:cNvPr>
          <p:cNvSpPr/>
          <p:nvPr/>
        </p:nvSpPr>
        <p:spPr>
          <a:xfrm>
            <a:off x="4078014" y="1968008"/>
            <a:ext cx="2007476" cy="10411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IQ Signal          Preprocessing  (Filtering/Noise)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2E4CF4-CD7F-821C-2921-E0DB4338A78A}"/>
              </a:ext>
            </a:extLst>
          </p:cNvPr>
          <p:cNvSpPr/>
          <p:nvPr/>
        </p:nvSpPr>
        <p:spPr>
          <a:xfrm>
            <a:off x="8082455" y="1968007"/>
            <a:ext cx="2312276" cy="11756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Extraction (Hilbert,       Statistical,</a:t>
            </a:r>
          </a:p>
          <a:p>
            <a:pPr algn="ctr"/>
            <a:r>
              <a:rPr lang="en-US" dirty="0"/>
              <a:t>Spectrogram)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468AB2-88A3-B898-CA57-E6B21E86A4F2}"/>
              </a:ext>
            </a:extLst>
          </p:cNvPr>
          <p:cNvSpPr/>
          <p:nvPr/>
        </p:nvSpPr>
        <p:spPr>
          <a:xfrm>
            <a:off x="8397766" y="3665976"/>
            <a:ext cx="2125772" cy="18729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 Creation</a:t>
            </a:r>
          </a:p>
          <a:p>
            <a:pPr algn="ctr"/>
            <a:r>
              <a:rPr lang="en-US" dirty="0"/>
              <a:t>(CSV / NumPy, Spectrogram Images)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E339E3-2176-3561-B290-52E7C81A48C5}"/>
              </a:ext>
            </a:extLst>
          </p:cNvPr>
          <p:cNvSpPr/>
          <p:nvPr/>
        </p:nvSpPr>
        <p:spPr>
          <a:xfrm>
            <a:off x="4550979" y="3848867"/>
            <a:ext cx="1902372" cy="1376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Training (CNN/ Random Forest)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10F574-2D2D-B9A3-2060-9AF7E1EB6F8B}"/>
              </a:ext>
            </a:extLst>
          </p:cNvPr>
          <p:cNvSpPr/>
          <p:nvPr/>
        </p:nvSpPr>
        <p:spPr>
          <a:xfrm>
            <a:off x="1061546" y="3848866"/>
            <a:ext cx="1902372" cy="1376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Drone Detection   &amp; Classification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A694A5-0927-DC9D-C86E-D43A4D16095E}"/>
              </a:ext>
            </a:extLst>
          </p:cNvPr>
          <p:cNvSpPr/>
          <p:nvPr/>
        </p:nvSpPr>
        <p:spPr>
          <a:xfrm>
            <a:off x="945932" y="1968007"/>
            <a:ext cx="2133600" cy="1041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SDR Signal         Acquisition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78D5E9-2464-501B-E579-4BE23C8582DD}"/>
              </a:ext>
            </a:extLst>
          </p:cNvPr>
          <p:cNvCxnSpPr>
            <a:cxnSpLocks/>
          </p:cNvCxnSpPr>
          <p:nvPr/>
        </p:nvCxnSpPr>
        <p:spPr>
          <a:xfrm>
            <a:off x="3079532" y="2459421"/>
            <a:ext cx="8828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C3C7D2-D7A0-944A-2B7C-EB13CCBFF408}"/>
              </a:ext>
            </a:extLst>
          </p:cNvPr>
          <p:cNvCxnSpPr>
            <a:cxnSpLocks/>
          </p:cNvCxnSpPr>
          <p:nvPr/>
        </p:nvCxnSpPr>
        <p:spPr>
          <a:xfrm>
            <a:off x="6216870" y="2585545"/>
            <a:ext cx="1487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C4ADAF-3DC3-5CED-E5DE-CCCE6D36E47C}"/>
              </a:ext>
            </a:extLst>
          </p:cNvPr>
          <p:cNvCxnSpPr>
            <a:cxnSpLocks/>
          </p:cNvCxnSpPr>
          <p:nvPr/>
        </p:nvCxnSpPr>
        <p:spPr>
          <a:xfrm>
            <a:off x="9246530" y="3143688"/>
            <a:ext cx="0" cy="40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44A6B5-AC98-2784-C103-5A91228E5848}"/>
              </a:ext>
            </a:extLst>
          </p:cNvPr>
          <p:cNvCxnSpPr>
            <a:cxnSpLocks/>
          </p:cNvCxnSpPr>
          <p:nvPr/>
        </p:nvCxnSpPr>
        <p:spPr>
          <a:xfrm flipH="1">
            <a:off x="6611008" y="4498429"/>
            <a:ext cx="1671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6C9A03-30CE-0EAB-2C27-187D59663CEB}"/>
              </a:ext>
            </a:extLst>
          </p:cNvPr>
          <p:cNvCxnSpPr>
            <a:cxnSpLocks/>
          </p:cNvCxnSpPr>
          <p:nvPr/>
        </p:nvCxnSpPr>
        <p:spPr>
          <a:xfrm flipH="1">
            <a:off x="3079532" y="4498429"/>
            <a:ext cx="1198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>
            <a:extLst>
              <a:ext uri="{FF2B5EF4-FFF2-40B4-BE49-F238E27FC236}">
                <a16:creationId xmlns:a16="http://schemas.microsoft.com/office/drawing/2014/main" id="{25774C15-A9F2-DB3F-09C6-9D87528463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Name:</a:t>
            </a:r>
            <a:r>
              <a:rPr lang="en-US" dirty="0"/>
              <a:t> MPACT Drone RC RF Signal Dataset</a:t>
            </a:r>
          </a:p>
          <a:p>
            <a:r>
              <a:rPr lang="en-US" b="1" dirty="0"/>
              <a:t>Description:</a:t>
            </a:r>
            <a:endParaRPr lang="en-US" dirty="0"/>
          </a:p>
          <a:p>
            <a:pPr lvl="1"/>
            <a:r>
              <a:rPr lang="en-US" dirty="0"/>
              <a:t>Contains IQ signals captured from multiple drone remote controllers.</a:t>
            </a:r>
          </a:p>
          <a:p>
            <a:pPr lvl="1"/>
            <a:r>
              <a:rPr lang="en-US" dirty="0"/>
              <a:t>Used for RF-based drone detection and classification.</a:t>
            </a:r>
          </a:p>
          <a:p>
            <a:r>
              <a:rPr lang="en-US" b="1" dirty="0"/>
              <a:t>Source / Reference:</a:t>
            </a:r>
            <a:endParaRPr lang="en-US" dirty="0"/>
          </a:p>
          <a:p>
            <a:pPr lvl="1"/>
            <a:r>
              <a:rPr lang="en-US" dirty="0"/>
              <a:t>IEEE </a:t>
            </a:r>
            <a:r>
              <a:rPr lang="en-US" dirty="0" err="1"/>
              <a:t>DataPort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Drone Remote Controller RF Signal Dataset</a:t>
            </a:r>
            <a:endParaRPr lang="en-US" dirty="0"/>
          </a:p>
          <a:p>
            <a:r>
              <a:rPr lang="en-US" b="1" dirty="0"/>
              <a:t>Usage in Project:</a:t>
            </a:r>
            <a:endParaRPr lang="en-US" dirty="0"/>
          </a:p>
          <a:p>
            <a:pPr lvl="1"/>
            <a:r>
              <a:rPr lang="en-US" dirty="0"/>
              <a:t>Used as input signals for preprocessing, feature extraction, and model training.</a:t>
            </a:r>
          </a:p>
        </p:txBody>
      </p:sp>
      <p:sp>
        <p:nvSpPr>
          <p:cNvPr id="15363" name="Title 2">
            <a:extLst>
              <a:ext uri="{FF2B5EF4-FFF2-40B4-BE49-F238E27FC236}">
                <a16:creationId xmlns:a16="http://schemas.microsoft.com/office/drawing/2014/main" id="{4B5B2141-3070-ED8F-B494-E21D4F5AC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/>
              <a:t>Database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24951-89A8-6145-D33C-A736C95378D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5365" name="Footer Placeholder 4">
            <a:extLst>
              <a:ext uri="{FF2B5EF4-FFF2-40B4-BE49-F238E27FC236}">
                <a16:creationId xmlns:a16="http://schemas.microsoft.com/office/drawing/2014/main" id="{BCCAD2E6-AB6C-8EB2-0FB4-5EEF2BFC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B9B3E0C8-C0D2-6268-5A2C-7DD6B497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94FA19-8EB1-45AA-B5FF-DA945D3E0B2D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EB9F1-4679-E04F-65FC-B317273B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2">
            <a:extLst>
              <a:ext uri="{FF2B5EF4-FFF2-40B4-BE49-F238E27FC236}">
                <a16:creationId xmlns:a16="http://schemas.microsoft.com/office/drawing/2014/main" id="{5925F906-8192-117D-F1C1-E4AFA9198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/>
              <a:t>Database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6D69A-D7EA-D234-87F3-EE50A75CF0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5365" name="Footer Placeholder 4">
            <a:extLst>
              <a:ext uri="{FF2B5EF4-FFF2-40B4-BE49-F238E27FC236}">
                <a16:creationId xmlns:a16="http://schemas.microsoft.com/office/drawing/2014/main" id="{2F596DFB-AFBE-1430-52AF-BD5FF77A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493945DB-880C-61CA-86EE-ADB99A08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94FA19-8EB1-45AA-B5FF-DA945D3E0B2D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04900-9A9A-280E-95B5-0E0196B98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85" y="1819049"/>
            <a:ext cx="3982006" cy="3600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75D87A-D1D3-3013-399D-B98A95A53BAF}"/>
              </a:ext>
            </a:extLst>
          </p:cNvPr>
          <p:cNvSpPr txBox="1"/>
          <p:nvPr/>
        </p:nvSpPr>
        <p:spPr>
          <a:xfrm>
            <a:off x="1870841" y="5423338"/>
            <a:ext cx="211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1:  METADATA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CC1F52-1A7C-5099-380C-062A1CAEB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371" y="2087280"/>
            <a:ext cx="5401429" cy="32198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CF3A59-5A5A-554A-8F81-2B55C8D103F4}"/>
              </a:ext>
            </a:extLst>
          </p:cNvPr>
          <p:cNvSpPr txBox="1"/>
          <p:nvPr/>
        </p:nvSpPr>
        <p:spPr>
          <a:xfrm>
            <a:off x="7307371" y="5307179"/>
            <a:ext cx="301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 2:  DRONE CATALOGUE</a:t>
            </a:r>
          </a:p>
        </p:txBody>
      </p:sp>
    </p:spTree>
    <p:extLst>
      <p:ext uri="{BB962C8B-B14F-4D97-AF65-F5344CB8AC3E}">
        <p14:creationId xmlns:p14="http://schemas.microsoft.com/office/powerpoint/2010/main" val="2571727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26AFAFA9-2AF5-9856-539E-9CB7E73BEE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5313" y="1484313"/>
            <a:ext cx="10758487" cy="4692650"/>
          </a:xfrm>
        </p:spPr>
        <p:txBody>
          <a:bodyPr/>
          <a:lstStyle/>
          <a:p>
            <a:r>
              <a:rPr lang="en-US" sz="2400" dirty="0"/>
              <a:t>We processed the MPACT Drone RC,RF IQ dataset, applying Hilbert transform to extract amplitude and phase information.</a:t>
            </a:r>
          </a:p>
          <a:p>
            <a:r>
              <a:rPr lang="en-US" sz="2400" dirty="0"/>
              <a:t>Features extracted included statistical, spectral, and burst-related characteristics from I/Q signals.</a:t>
            </a:r>
          </a:p>
          <a:p>
            <a:r>
              <a:rPr lang="en-US" sz="2400" dirty="0"/>
              <a:t>Random Forest classifier was applied on these features, effectively capturing non-linear patterns and transient bursts.</a:t>
            </a:r>
          </a:p>
          <a:p>
            <a:r>
              <a:rPr lang="en-US" sz="2400" dirty="0"/>
              <a:t>The model achieved </a:t>
            </a:r>
            <a:r>
              <a:rPr lang="en-US" sz="2400" b="1" dirty="0"/>
              <a:t>~97.7% </a:t>
            </a:r>
            <a:r>
              <a:rPr lang="en-US" sz="2400" dirty="0"/>
              <a:t>accuracy in classifying different devices.</a:t>
            </a:r>
          </a:p>
          <a:p>
            <a:r>
              <a:rPr lang="en-US" sz="2400" dirty="0"/>
              <a:t>Simpler models like SVM or logistic regression performed worse, likely missing the complex correlations present in the data.</a:t>
            </a:r>
          </a:p>
          <a:p>
            <a:r>
              <a:rPr lang="en-US" sz="2400" dirty="0"/>
              <a:t>Visualization of I/Q distributions, magnitude/phase spectrograms, and constellation plots confirmed clear separability between classes.</a:t>
            </a:r>
          </a:p>
          <a:p>
            <a:pPr marL="0" indent="0">
              <a:buNone/>
            </a:pPr>
            <a:endParaRPr lang="en-IN" altLang="en-US" dirty="0"/>
          </a:p>
        </p:txBody>
      </p:sp>
      <p:sp>
        <p:nvSpPr>
          <p:cNvPr id="16387" name="Title 2">
            <a:extLst>
              <a:ext uri="{FF2B5EF4-FFF2-40B4-BE49-F238E27FC236}">
                <a16:creationId xmlns:a16="http://schemas.microsoft.com/office/drawing/2014/main" id="{808D7E6A-4D32-633A-0C2A-E53A3F19C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04497"/>
            <a:ext cx="10515600" cy="598816"/>
          </a:xfrm>
        </p:spPr>
        <p:txBody>
          <a:bodyPr/>
          <a:lstStyle/>
          <a:p>
            <a:pPr eaLnBrk="1" hangingPunct="1"/>
            <a:r>
              <a:rPr lang="en-IN" altLang="en-US" b="1" dirty="0"/>
              <a:t>Experimental Results and Discussion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DCB3D-47C4-2889-723C-1094B66390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D183364D-4786-7691-5E87-D03F2FCB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19D31C21-5744-D9CB-1C24-9AC49404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E51CD1-3B17-4088-AC28-1C12970C0410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15103-A7A2-C171-6DEA-479C8AD7C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BC8E5BA9-D6C8-4FEB-42ED-660177AB4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5313" y="1484313"/>
            <a:ext cx="10758487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Model Performance Overview</a:t>
            </a:r>
          </a:p>
          <a:p>
            <a:r>
              <a:rPr lang="en-US" sz="2400" dirty="0"/>
              <a:t>Replaced </a:t>
            </a:r>
            <a:r>
              <a:rPr lang="en-US" sz="2400" b="1" dirty="0"/>
              <a:t>Random Forest</a:t>
            </a:r>
            <a:r>
              <a:rPr lang="en-US" sz="2400" dirty="0"/>
              <a:t> with </a:t>
            </a:r>
            <a:r>
              <a:rPr lang="en-US" sz="2400" b="1" dirty="0" err="1"/>
              <a:t>XGBoost</a:t>
            </a:r>
            <a:r>
              <a:rPr lang="en-US" sz="2400" dirty="0"/>
              <a:t>, achieving an accuracy of </a:t>
            </a:r>
            <a:r>
              <a:rPr lang="en-US" sz="2400" b="1" dirty="0"/>
              <a:t>95.5%</a:t>
            </a:r>
            <a:r>
              <a:rPr lang="en-US" sz="2400" dirty="0"/>
              <a:t>.</a:t>
            </a:r>
          </a:p>
          <a:p>
            <a:r>
              <a:rPr lang="en-US" sz="2400" dirty="0"/>
              <a:t>Evaluated two deep learning models — </a:t>
            </a:r>
            <a:r>
              <a:rPr lang="en-US" sz="2400" b="1" dirty="0"/>
              <a:t>EfficientNet-B5</a:t>
            </a:r>
            <a:r>
              <a:rPr lang="en-US" sz="2400" dirty="0"/>
              <a:t> and </a:t>
            </a:r>
            <a:r>
              <a:rPr lang="en-US" sz="2400" b="1" dirty="0" err="1"/>
              <a:t>ResNet</a:t>
            </a:r>
            <a:r>
              <a:rPr lang="en-US" sz="2400" dirty="0"/>
              <a:t> — obtaining accuracies of </a:t>
            </a:r>
            <a:r>
              <a:rPr lang="en-US" sz="2400" b="1" dirty="0"/>
              <a:t>96.7%</a:t>
            </a:r>
            <a:r>
              <a:rPr lang="en-US" sz="2400" dirty="0"/>
              <a:t> and </a:t>
            </a:r>
            <a:r>
              <a:rPr lang="en-US" sz="2400" b="1" dirty="0"/>
              <a:t>97.56%</a:t>
            </a:r>
            <a:r>
              <a:rPr lang="en-US" sz="2400" dirty="0"/>
              <a:t>, respectively.</a:t>
            </a:r>
          </a:p>
          <a:p>
            <a:pPr marL="0" indent="0">
              <a:buNone/>
            </a:pPr>
            <a:r>
              <a:rPr lang="en-US" sz="2400" b="1" dirty="0"/>
              <a:t>Transfer Learning Setup</a:t>
            </a:r>
          </a:p>
          <a:p>
            <a:r>
              <a:rPr lang="en-US" sz="2400" dirty="0"/>
              <a:t>Used </a:t>
            </a:r>
            <a:r>
              <a:rPr lang="en-US" sz="2400" b="1" dirty="0"/>
              <a:t>transfer learning</a:t>
            </a:r>
            <a:r>
              <a:rPr lang="en-US" sz="2400" dirty="0"/>
              <a:t> with </a:t>
            </a:r>
            <a:r>
              <a:rPr lang="en-US" sz="2400" b="1" dirty="0"/>
              <a:t>pretrained and frozen weights</a:t>
            </a:r>
            <a:r>
              <a:rPr lang="en-US" sz="2400" dirty="0"/>
              <a:t> for both EfficientNet-B5 and </a:t>
            </a:r>
            <a:r>
              <a:rPr lang="en-US" sz="2400" dirty="0" err="1"/>
              <a:t>ResNet</a:t>
            </a:r>
            <a:r>
              <a:rPr lang="en-US" sz="2400" dirty="0"/>
              <a:t>.</a:t>
            </a:r>
          </a:p>
          <a:p>
            <a:r>
              <a:rPr lang="en-US" sz="2400" dirty="0"/>
              <a:t>Added </a:t>
            </a:r>
            <a:r>
              <a:rPr lang="en-US" sz="2400" b="1" dirty="0"/>
              <a:t>five custom Dense layers</a:t>
            </a:r>
            <a:r>
              <a:rPr lang="en-US" sz="2400" dirty="0"/>
              <a:t> on top of the base models and trained them on our dataset.</a:t>
            </a:r>
          </a:p>
          <a:p>
            <a:pPr marL="0" indent="0">
              <a:buNone/>
            </a:pPr>
            <a:r>
              <a:rPr lang="en-US" sz="2400" b="1" dirty="0"/>
              <a:t>Training Configuration</a:t>
            </a:r>
          </a:p>
          <a:p>
            <a:r>
              <a:rPr lang="en-US" sz="2400" dirty="0"/>
              <a:t>Optimizer: </a:t>
            </a:r>
            <a:r>
              <a:rPr lang="en-US" sz="2400" b="1" dirty="0"/>
              <a:t>Adam</a:t>
            </a:r>
            <a:endParaRPr lang="en-US" sz="2400" dirty="0"/>
          </a:p>
          <a:p>
            <a:r>
              <a:rPr lang="en-US" sz="2400" dirty="0"/>
              <a:t>Batch size: </a:t>
            </a:r>
            <a:r>
              <a:rPr lang="en-US" sz="2400" b="1" dirty="0"/>
              <a:t>32</a:t>
            </a:r>
            <a:endParaRPr lang="en-US" sz="2400" dirty="0"/>
          </a:p>
        </p:txBody>
      </p:sp>
      <p:sp>
        <p:nvSpPr>
          <p:cNvPr id="16387" name="Title 2">
            <a:extLst>
              <a:ext uri="{FF2B5EF4-FFF2-40B4-BE49-F238E27FC236}">
                <a16:creationId xmlns:a16="http://schemas.microsoft.com/office/drawing/2014/main" id="{44EF1438-4A91-0475-916F-ADE454629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04497"/>
            <a:ext cx="10515600" cy="598816"/>
          </a:xfrm>
        </p:spPr>
        <p:txBody>
          <a:bodyPr/>
          <a:lstStyle/>
          <a:p>
            <a:pPr eaLnBrk="1" hangingPunct="1"/>
            <a:r>
              <a:rPr lang="en-IN" altLang="en-US" b="1" dirty="0"/>
              <a:t>Experimental Results and Discussion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74CBF-8A75-E0B4-22F7-AEF03A58C54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6DA42C49-46F2-50DF-7340-E3FAF2FB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D282FF9B-B8B6-C917-8994-91AB0049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E51CD1-3B17-4088-AC28-1C12970C0410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6DE7A-00C1-0CD0-1F62-DFD90F992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316" y="5003447"/>
            <a:ext cx="3836206" cy="12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03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85AD-FA49-A3E5-003C-13B6482E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>
            <a:extLst>
              <a:ext uri="{FF2B5EF4-FFF2-40B4-BE49-F238E27FC236}">
                <a16:creationId xmlns:a16="http://schemas.microsoft.com/office/drawing/2014/main" id="{B49E81FD-4267-5CBB-7A51-219CED80F9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5313" y="1484313"/>
            <a:ext cx="10758487" cy="469265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CNN Architecture Details</a:t>
            </a:r>
          </a:p>
          <a:p>
            <a:r>
              <a:rPr lang="en-US" sz="2400" dirty="0"/>
              <a:t>Designed a </a:t>
            </a:r>
            <a:r>
              <a:rPr lang="en-US" sz="2400" b="1" dirty="0"/>
              <a:t>multi-input CNN</a:t>
            </a:r>
            <a:r>
              <a:rPr lang="en-US" sz="2400" dirty="0"/>
              <a:t>, receiving </a:t>
            </a:r>
            <a:r>
              <a:rPr lang="en-US" sz="2400" b="1" dirty="0"/>
              <a:t>9 input images</a:t>
            </a:r>
            <a:r>
              <a:rPr lang="en-US" sz="2400" dirty="0"/>
              <a:t> per sample.</a:t>
            </a:r>
          </a:p>
        </p:txBody>
      </p:sp>
      <p:sp>
        <p:nvSpPr>
          <p:cNvPr id="16387" name="Title 2">
            <a:extLst>
              <a:ext uri="{FF2B5EF4-FFF2-40B4-BE49-F238E27FC236}">
                <a16:creationId xmlns:a16="http://schemas.microsoft.com/office/drawing/2014/main" id="{85E3DFA7-AF59-6578-4E1F-2C019397D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504497"/>
            <a:ext cx="10515600" cy="598816"/>
          </a:xfrm>
        </p:spPr>
        <p:txBody>
          <a:bodyPr/>
          <a:lstStyle/>
          <a:p>
            <a:pPr eaLnBrk="1" hangingPunct="1"/>
            <a:r>
              <a:rPr lang="en-IN" altLang="en-US" b="1" dirty="0"/>
              <a:t>Experimental Results and Discussion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80AAD-AAD5-7E16-6CAB-49A744B085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69DFC402-F405-DD73-EC2B-2B0BB53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ECF2E8C1-9012-A2A2-D81D-5F200095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E51CD1-3B17-4088-AC28-1C12970C0410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87B01AFB-B186-DF31-DB56-C1284CA8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45" y="2505913"/>
            <a:ext cx="8535591" cy="3400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EBA590-12E2-1917-370A-451949C83FBA}"/>
              </a:ext>
            </a:extLst>
          </p:cNvPr>
          <p:cNvSpPr txBox="1"/>
          <p:nvPr/>
        </p:nvSpPr>
        <p:spPr>
          <a:xfrm>
            <a:off x="4477407" y="5906813"/>
            <a:ext cx="3720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EfficientNet-B5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1036688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119F-1D2F-4EFF-B4C1-9EB35F49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2">
            <a:extLst>
              <a:ext uri="{FF2B5EF4-FFF2-40B4-BE49-F238E27FC236}">
                <a16:creationId xmlns:a16="http://schemas.microsoft.com/office/drawing/2014/main" id="{36806477-5FCD-23FC-CAF9-EFAC325FC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8750"/>
            <a:ext cx="10515600" cy="944563"/>
          </a:xfrm>
        </p:spPr>
        <p:txBody>
          <a:bodyPr/>
          <a:lstStyle/>
          <a:p>
            <a:pPr eaLnBrk="1" hangingPunct="1"/>
            <a:r>
              <a:rPr lang="en-IN" altLang="en-US" b="1" dirty="0"/>
              <a:t>Experimental Results and Discussion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1A186-4722-72A7-DB98-5A3DBC4D2A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DF6BDD5E-9B1F-A2EB-79EA-AF84AB1E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BF7D0640-0D17-7780-CA19-7B370B93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E51CD1-3B17-4088-AC28-1C12970C0410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C751C3-EC5A-204F-5BFB-A9AEB5259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810" y="996879"/>
            <a:ext cx="8092965" cy="536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70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068E-17A5-5BA8-E66B-B6F4341C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2">
            <a:extLst>
              <a:ext uri="{FF2B5EF4-FFF2-40B4-BE49-F238E27FC236}">
                <a16:creationId xmlns:a16="http://schemas.microsoft.com/office/drawing/2014/main" id="{5DE1A4CC-8225-EA5F-F9B5-8484745CA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8750"/>
            <a:ext cx="10515600" cy="944563"/>
          </a:xfrm>
        </p:spPr>
        <p:txBody>
          <a:bodyPr/>
          <a:lstStyle/>
          <a:p>
            <a:pPr eaLnBrk="1" hangingPunct="1"/>
            <a:r>
              <a:rPr lang="en-IN" altLang="en-US" b="1" dirty="0"/>
              <a:t>Experimental Results and Discussion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9FF23-F047-FD2E-0072-16891FFC9B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A7F9A9-EB40-4174-A8AB-BA6F6AA90C26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2489CCB1-B477-185E-FAB6-C7C28122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E04AF7B8-7B4C-12F8-25BE-48CFD2119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E51CD1-3B17-4088-AC28-1C12970C0410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F62DB-15F0-E807-E600-E7D3B3EC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" y="1324303"/>
            <a:ext cx="5307724" cy="4540469"/>
          </a:xfrm>
          <a:prstGeom prst="rect">
            <a:avLst/>
          </a:prstGeom>
        </p:spPr>
      </p:pic>
      <p:pic>
        <p:nvPicPr>
          <p:cNvPr id="5" name="Picture 4" descr="A blue and purple line&#10;&#10;AI-generated content may be incorrect.">
            <a:extLst>
              <a:ext uri="{FF2B5EF4-FFF2-40B4-BE49-F238E27FC236}">
                <a16:creationId xmlns:a16="http://schemas.microsoft.com/office/drawing/2014/main" id="{3360B7B8-DD02-1C77-1ABE-DFFE69840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559" y="1324302"/>
            <a:ext cx="4027086" cy="45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78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>
            <a:extLst>
              <a:ext uri="{FF2B5EF4-FFF2-40B4-BE49-F238E27FC236}">
                <a16:creationId xmlns:a16="http://schemas.microsoft.com/office/drawing/2014/main" id="{494FB1AF-9C82-D4AA-B9AF-BE53F66442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3946525"/>
          </a:xfrm>
        </p:spPr>
        <p:txBody>
          <a:bodyPr/>
          <a:lstStyle/>
          <a:p>
            <a:r>
              <a:rPr lang="en-US" sz="2400" dirty="0"/>
              <a:t>Explore additional machine learning models (</a:t>
            </a:r>
            <a:r>
              <a:rPr lang="en-US" sz="2400" b="1" dirty="0" err="1"/>
              <a:t>XGBoost</a:t>
            </a:r>
            <a:r>
              <a:rPr lang="en-US" sz="2400" b="1" dirty="0"/>
              <a:t>, LSTM, Transformers</a:t>
            </a:r>
            <a:r>
              <a:rPr lang="en-US" sz="2400" dirty="0"/>
              <a:t>) for improved performance.</a:t>
            </a:r>
          </a:p>
          <a:p>
            <a:r>
              <a:rPr lang="en-US" sz="2400" dirty="0"/>
              <a:t>Incorporate more signal processing techniques (</a:t>
            </a:r>
            <a:r>
              <a:rPr lang="en-US" sz="2400" b="1" dirty="0"/>
              <a:t>wavelets, STFT, MFCC</a:t>
            </a:r>
            <a:r>
              <a:rPr lang="en-US" sz="2400" dirty="0"/>
              <a:t>) to enhance feature representation.</a:t>
            </a:r>
          </a:p>
          <a:p>
            <a:r>
              <a:rPr lang="en-US" sz="2400" dirty="0"/>
              <a:t>Collect larger and more diverse datasets covering various drones and environmental conditions.</a:t>
            </a:r>
          </a:p>
          <a:p>
            <a:r>
              <a:rPr lang="en-US" sz="2400" dirty="0"/>
              <a:t>Implement real-time detection on hardware using SDR and embedded systems.</a:t>
            </a:r>
          </a:p>
          <a:p>
            <a:r>
              <a:rPr lang="en-US" sz="2400" dirty="0"/>
              <a:t>Combine </a:t>
            </a:r>
            <a:r>
              <a:rPr lang="en-US" sz="2400" b="1" dirty="0"/>
              <a:t>RF signals </a:t>
            </a:r>
            <a:r>
              <a:rPr lang="en-US" sz="2400" dirty="0"/>
              <a:t>with other modalities (</a:t>
            </a:r>
            <a:r>
              <a:rPr lang="en-US" sz="2400" b="1" dirty="0"/>
              <a:t>acoustic, radar</a:t>
            </a:r>
            <a:r>
              <a:rPr lang="en-US" sz="2400" dirty="0"/>
              <a:t>) for multi-sensor fusion detection.</a:t>
            </a:r>
          </a:p>
          <a:p>
            <a:r>
              <a:rPr lang="en-US" sz="2400" dirty="0"/>
              <a:t>Optimize </a:t>
            </a:r>
            <a:r>
              <a:rPr lang="en-US" sz="2400" b="1" dirty="0"/>
              <a:t>feature extraction</a:t>
            </a:r>
            <a:r>
              <a:rPr lang="en-US" sz="2400" dirty="0"/>
              <a:t> and </a:t>
            </a:r>
            <a:r>
              <a:rPr lang="en-US" sz="2400" b="1" dirty="0"/>
              <a:t>preprocessing techniques </a:t>
            </a:r>
            <a:r>
              <a:rPr lang="en-US" sz="2400" dirty="0"/>
              <a:t>to further improve model efficiency and accuracy.</a:t>
            </a:r>
          </a:p>
        </p:txBody>
      </p:sp>
      <p:sp>
        <p:nvSpPr>
          <p:cNvPr id="17411" name="Title 2">
            <a:extLst>
              <a:ext uri="{FF2B5EF4-FFF2-40B4-BE49-F238E27FC236}">
                <a16:creationId xmlns:a16="http://schemas.microsoft.com/office/drawing/2014/main" id="{C7265C36-74CB-D9C0-53BF-98496DC76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Conclusion and Future Directions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F480-8F6E-FF9B-514B-1EDD774B3A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6B02AD6-91CA-4C34-8379-E4644CDC3DF3}" type="datetime1">
              <a:rPr lang="en-IN" smtClean="0"/>
              <a:pPr>
                <a:defRPr/>
              </a:pPr>
              <a:t>25-11-2025</a:t>
            </a:fld>
            <a:endParaRPr lang="en-US" dirty="0"/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4E3FA022-C48D-218E-3D83-4707B66E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  <p:sp>
        <p:nvSpPr>
          <p:cNvPr id="17414" name="Slide Number Placeholder 5">
            <a:extLst>
              <a:ext uri="{FF2B5EF4-FFF2-40B4-BE49-F238E27FC236}">
                <a16:creationId xmlns:a16="http://schemas.microsoft.com/office/drawing/2014/main" id="{050DB72B-7B84-97A0-9BA2-49B29137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495B885-096A-41F5-B705-4803515759C9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BB9D1C7D-33D6-1D9F-05E7-699CF1E3A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75"/>
            <a:ext cx="12192000" cy="4727575"/>
          </a:xfrm>
          <a:prstGeom prst="rect">
            <a:avLst/>
          </a:prstGeom>
          <a:solidFill>
            <a:srgbClr val="0C25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842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69875" indent="-134938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42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42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450"/>
              </a:spcBef>
              <a:spcAft>
                <a:spcPts val="450"/>
              </a:spcAft>
              <a:buClr>
                <a:srgbClr val="0C2577"/>
              </a:buClr>
              <a:buFont typeface="Arial" panose="020B0604020202020204" pitchFamily="34" charset="0"/>
              <a:buNone/>
            </a:pPr>
            <a:r>
              <a:rPr lang="en-US" altLang="en-US" sz="100">
                <a:solidFill>
                  <a:srgbClr val="0C2577"/>
                </a:solidFill>
                <a:latin typeface="Georgia" panose="02040502050405020303" pitchFamily="18" charset="0"/>
              </a:rPr>
              <a:t>..</a:t>
            </a:r>
          </a:p>
        </p:txBody>
      </p:sp>
      <p:sp>
        <p:nvSpPr>
          <p:cNvPr id="19459" name="Title 4">
            <a:extLst>
              <a:ext uri="{FF2B5EF4-FFF2-40B4-BE49-F238E27FC236}">
                <a16:creationId xmlns:a16="http://schemas.microsoft.com/office/drawing/2014/main" id="{DC9F7841-DA86-60CE-B602-9E51D4702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863" y="15367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Georgia" panose="02040502050405020303" pitchFamily="18" charset="0"/>
              </a:rPr>
              <a:t>Thank You</a:t>
            </a: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BC8E9C0C-01A0-4D9F-9775-CE01E4ABA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5002213"/>
            <a:ext cx="12446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6">
            <a:extLst>
              <a:ext uri="{FF2B5EF4-FFF2-40B4-BE49-F238E27FC236}">
                <a16:creationId xmlns:a16="http://schemas.microsoft.com/office/drawing/2014/main" id="{C94F6CD2-9783-09A3-3344-505B7575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5162550"/>
            <a:ext cx="55594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1800" b="1">
                <a:solidFill>
                  <a:srgbClr val="23298A"/>
                </a:solidFill>
                <a:latin typeface="Georgia" panose="02040502050405020303" pitchFamily="18" charset="0"/>
              </a:rPr>
              <a:t>Dr. Shyama Prasad Mukherjee International Institute of Information Technology, Naya Raipur </a:t>
            </a:r>
            <a:endParaRPr lang="en-US" altLang="en-US" sz="1800" b="1">
              <a:solidFill>
                <a:srgbClr val="23298A"/>
              </a:solidFill>
              <a:latin typeface="Georgia" panose="02040502050405020303" pitchFamily="18" charset="0"/>
            </a:endParaRPr>
          </a:p>
        </p:txBody>
      </p:sp>
      <p:sp>
        <p:nvSpPr>
          <p:cNvPr id="19462" name="Date Placeholder 7">
            <a:extLst>
              <a:ext uri="{FF2B5EF4-FFF2-40B4-BE49-F238E27FC236}">
                <a16:creationId xmlns:a16="http://schemas.microsoft.com/office/drawing/2014/main" id="{7B8EE348-ED8B-6C33-DDDE-211E248319F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2C5A27F3-0F14-4DFC-B131-D2F35D80F00E}" type="datetime1">
              <a:rPr lang="en-IN" altLang="en-US" sz="1200" smtClean="0">
                <a:solidFill>
                  <a:schemeClr val="bg1"/>
                </a:solidFill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25-11-2025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9463" name="Slide Number Placeholder 8">
            <a:extLst>
              <a:ext uri="{FF2B5EF4-FFF2-40B4-BE49-F238E27FC236}">
                <a16:creationId xmlns:a16="http://schemas.microsoft.com/office/drawing/2014/main" id="{7ADC5EC2-8812-19C7-F1E7-D05EF8BB47E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F5579D9-B8D3-4F47-B9A1-579D43876982}" type="slidenum">
              <a:rPr lang="en-US" altLang="en-US" sz="120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9464" name="Footer Placeholder 12">
            <a:extLst>
              <a:ext uri="{FF2B5EF4-FFF2-40B4-BE49-F238E27FC236}">
                <a16:creationId xmlns:a16="http://schemas.microsoft.com/office/drawing/2014/main" id="{786B1AA4-3699-1C07-D8DF-2A189D847F5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Georgia" panose="02040502050405020303" pitchFamily="18" charset="0"/>
              </a:rPr>
              <a:t>International Institute of Information Technology, Naya Raipur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l Template IIIT" id="{8839C0F0-3A9A-C149-BA4B-A6AA26401E1A}" vid="{66AB4241-E2E7-544B-BAE4-A134C5883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</TotalTime>
  <Words>1364</Words>
  <Application>Microsoft Office PowerPoint</Application>
  <PresentationFormat>Widescreen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Georgia</vt:lpstr>
      <vt:lpstr>Minion</vt:lpstr>
      <vt:lpstr>Times New Roman</vt:lpstr>
      <vt:lpstr>Office Theme</vt:lpstr>
      <vt:lpstr>Drone Detection using  RF signals</vt:lpstr>
      <vt:lpstr>Content</vt:lpstr>
      <vt:lpstr>Introduction</vt:lpstr>
      <vt:lpstr>Motivation   </vt:lpstr>
      <vt:lpstr>Literature Review</vt:lpstr>
      <vt:lpstr>Problem Definition/Problem statement  </vt:lpstr>
      <vt:lpstr>Research Gap   </vt:lpstr>
      <vt:lpstr>Objective (s) of the Project </vt:lpstr>
      <vt:lpstr>Proposed Framework/Methodology   </vt:lpstr>
      <vt:lpstr>Database description</vt:lpstr>
      <vt:lpstr>Database description</vt:lpstr>
      <vt:lpstr>Experimental Results and Discussion </vt:lpstr>
      <vt:lpstr>Experimental Results and Discussion </vt:lpstr>
      <vt:lpstr>Experimental Results and Discussion </vt:lpstr>
      <vt:lpstr>Experimental Results and Discussion </vt:lpstr>
      <vt:lpstr>Experimental Results and Discussion </vt:lpstr>
      <vt:lpstr>Conclusion and Future Directions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Amit Agrawal</dc:creator>
  <cp:lastModifiedBy>Pranjal Agrawal</cp:lastModifiedBy>
  <cp:revision>64</cp:revision>
  <dcterms:created xsi:type="dcterms:W3CDTF">2020-01-15T07:35:03Z</dcterms:created>
  <dcterms:modified xsi:type="dcterms:W3CDTF">2025-11-24T19:54:30Z</dcterms:modified>
</cp:coreProperties>
</file>